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2784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213545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3,900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61475" y="1846461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2366367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18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661475" y="2999284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3519190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37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661475" y="4152106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4444603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1475" y="4942880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$59.76</a:t>
            </a:r>
            <a:endParaRPr lang="en-US" sz="3750" dirty="0"/>
          </a:p>
        </p:txBody>
      </p:sp>
      <p:sp>
        <p:nvSpPr>
          <p:cNvPr id="12" name="Text 9"/>
          <p:cNvSpPr/>
          <p:nvPr/>
        </p:nvSpPr>
        <p:spPr>
          <a:xfrm>
            <a:off x="661475" y="5575796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Avg Purchase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1475" y="5926435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 details, and shopping behavior — 4 categories, 50 locations, 25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80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Preparation in Python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2138"/>
            <a:ext cx="6915870" cy="391904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4021" y="1542306"/>
            <a:ext cx="261336" cy="2613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4964" y="1536898"/>
            <a:ext cx="296150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Clean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8574964" y="1969691"/>
            <a:ext cx="296150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missing Review Ratings by category median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4021" y="2831951"/>
            <a:ext cx="261336" cy="2613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4964" y="2826544"/>
            <a:ext cx="296150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Standardize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574964" y="3259336"/>
            <a:ext cx="296150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Renamed columns to snake_case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4021" y="3853805"/>
            <a:ext cx="261336" cy="2613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74964" y="3848398"/>
            <a:ext cx="296150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Engineer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8574964" y="4281190"/>
            <a:ext cx="296150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&amp; purchase_frequency_days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4021" y="5143450"/>
            <a:ext cx="261336" cy="2613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74964" y="5138043"/>
            <a:ext cx="296150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Integrate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8574964" y="5570835"/>
            <a:ext cx="296150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cleaned data into PostgreSQL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female customers.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BE2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6433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high-spending discount users identified — above-average spenders who still used discounts.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Products by Rating &amp; Discount Rate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Highest Discount Rates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— 50.00%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 — 49.66%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 — 49.07%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Sweater — 48.17%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 — 47.37%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40025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averages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Standard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Subscription Insights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32776" y="2477393"/>
            <a:ext cx="2507394" cy="1472704"/>
          </a:xfrm>
          <a:prstGeom prst="roundRect">
            <a:avLst>
              <a:gd name="adj" fmla="val 539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28133" y="2672755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27% Subscribers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28133" y="3157041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1,053 customers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029176" y="2477393"/>
            <a:ext cx="2507394" cy="1472704"/>
          </a:xfrm>
          <a:prstGeom prst="roundRect">
            <a:avLst>
              <a:gd name="adj" fmla="val 539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24533" y="2672755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73% Non-Subscribers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224533" y="3452316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2,847 customers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32776" y="416272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spend nearly identical: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958 repeat buyers subscribe.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8053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54647"/>
            <a:ext cx="3053877" cy="1108174"/>
          </a:xfrm>
          <a:prstGeom prst="roundRect">
            <a:avLst>
              <a:gd name="adj" fmla="val 716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50009"/>
            <a:ext cx="26631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65041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54647"/>
            <a:ext cx="3053976" cy="1108174"/>
          </a:xfrm>
          <a:prstGeom prst="roundRect">
            <a:avLst>
              <a:gd name="adj" fmla="val 716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450009"/>
            <a:ext cx="266326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65041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551833"/>
            <a:ext cx="6296860" cy="1108174"/>
          </a:xfrm>
          <a:prstGeom prst="roundRect">
            <a:avLst>
              <a:gd name="adj" fmla="val 7164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3747195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New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16222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487263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 of customers are Loyal — strong retention base to leverage for upselling and referrals.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Category: Clothing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$100K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Orders: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1,800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292625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Accessories — $75K / 1,200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Footwear — $30K / 600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Outerwear — $15K / 200 orders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413573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revenue; Clothing dominates all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7369"/>
            <a:ext cx="6296860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233360" y="1187946"/>
            <a:ext cx="6296860" cy="1121073"/>
          </a:xfrm>
          <a:prstGeom prst="roundRect">
            <a:avLst>
              <a:gd name="adj" fmla="val 5643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90321" y="1344910"/>
            <a:ext cx="451831" cy="451842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4539" y="1469132"/>
            <a:ext cx="203294" cy="2032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0321" y="1916708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3.9K Customers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233360" y="2428974"/>
            <a:ext cx="6296860" cy="1121073"/>
          </a:xfrm>
          <a:prstGeom prst="roundRect">
            <a:avLst>
              <a:gd name="adj" fmla="val 5643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90321" y="2585938"/>
            <a:ext cx="451831" cy="451842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4539" y="2710160"/>
            <a:ext cx="203294" cy="2032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0321" y="3157736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$59.76 Avg Purchase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233360" y="3670002"/>
            <a:ext cx="6296860" cy="1121073"/>
          </a:xfrm>
          <a:prstGeom prst="roundRect">
            <a:avLst>
              <a:gd name="adj" fmla="val 5643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390321" y="3826966"/>
            <a:ext cx="451831" cy="451842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14539" y="3951188"/>
            <a:ext cx="203294" cy="2032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0321" y="4398764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3.75 Avg Rating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233360" y="4911030"/>
            <a:ext cx="6296860" cy="1409502"/>
          </a:xfrm>
          <a:prstGeom prst="roundRect">
            <a:avLst>
              <a:gd name="adj" fmla="val 4488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390321" y="5067995"/>
            <a:ext cx="451831" cy="451842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4539" y="5192216"/>
            <a:ext cx="203294" cy="20329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90321" y="5639792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Interactive Filters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390321" y="5947073"/>
            <a:ext cx="5982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· Gender · Category · Shipping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78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76488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76488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toward Loyal segment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76488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lift with margin control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07842"/>
            <a:ext cx="3496877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093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top-rated, best-selling items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007842"/>
            <a:ext cx="3496877" cy="1442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3093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&amp; express shippers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2026-08-26T05:16:09Z</dcterms:created>
  <dcterms:modified xsi:type="dcterms:W3CDTF">2026-08-26T05:16:09Z</dcterms:modified>
</cp:coreProperties>
</file>